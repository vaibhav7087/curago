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Triage AUC (5-fold CV)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LogReg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0.932</c:v>
                </c:pt>
                <c:pt idx="1">
                  <c:v>0.96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7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Opener: rural patient calls, AI triages, doctor approves, medicines delivered, system follows up. All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sell the loop, defend with one eval table. Thank judges,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840480" cy="3840480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028090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NEXATHON  2026  ·  PROJECT COMPETITION — HEALTHCARE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Phygital telemedicine &amp; rural healthcare logistics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triage  ›  Doctor oversight  ›  Last-mile delivery  ›  Safety-net follow-up</a:t>
            </a:r>
            <a:endParaRPr lang="en-US" sz="1300" dirty="0"/>
          </a:p>
        </p:txBody>
      </p:sp>
      <p:pic>
        <p:nvPicPr>
          <p:cNvPr id="7" name="Image 0" descr="C:/Users/Vaibhav/AppData/Local/Temp/opencode/icons/fast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29000"/>
            <a:ext cx="384048" cy="384048"/>
          </a:xfrm>
          <a:prstGeom prst="rect">
            <a:avLst/>
          </a:prstGeom>
        </p:spPr>
      </p:pic>
      <p:pic>
        <p:nvPicPr>
          <p:cNvPr id="8" name="Image 1" descr="C:/Users/Vaibhav/AppData/Local/Temp/opencode/icons/pyth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3429000"/>
            <a:ext cx="384048" cy="384048"/>
          </a:xfrm>
          <a:prstGeom prst="rect">
            <a:avLst/>
          </a:prstGeom>
        </p:spPr>
      </p:pic>
      <p:pic>
        <p:nvPicPr>
          <p:cNvPr id="9" name="Image 2" descr="C:/Users/Vaibhav/AppData/Local/Temp/opencode/icons/sup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16" y="3429000"/>
            <a:ext cx="384048" cy="384048"/>
          </a:xfrm>
          <a:prstGeom prst="rect">
            <a:avLst/>
          </a:prstGeom>
        </p:spPr>
      </p:pic>
      <p:pic>
        <p:nvPicPr>
          <p:cNvPr id="10" name="Image 3" descr="C:/Users/Vaibhav/AppData/Local/Temp/opencode/icons/postgresq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144" y="3429000"/>
            <a:ext cx="384048" cy="384048"/>
          </a:xfrm>
          <a:prstGeom prst="rect">
            <a:avLst/>
          </a:prstGeom>
        </p:spPr>
      </p:pic>
      <p:pic>
        <p:nvPicPr>
          <p:cNvPr id="11" name="Image 4" descr="C:/Users/Vaibhav/AppData/Local/Temp/opencode/icons/reac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3429000"/>
            <a:ext cx="384048" cy="384048"/>
          </a:xfrm>
          <a:prstGeom prst="rect">
            <a:avLst/>
          </a:prstGeom>
        </p:spPr>
      </p:pic>
      <p:pic>
        <p:nvPicPr>
          <p:cNvPr id="12" name="Image 5" descr="C:/Users/Vaibhav/AppData/Local/Temp/opencode/icons/flut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429000"/>
            <a:ext cx="384048" cy="384048"/>
          </a:xfrm>
          <a:prstGeom prst="rect">
            <a:avLst/>
          </a:prstGeom>
        </p:spPr>
      </p:pic>
      <p:pic>
        <p:nvPicPr>
          <p:cNvPr id="13" name="Image 6" descr="C:/Users/Vaibhav/AppData/Local/Temp/opencode/icons/dock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5928" y="3429000"/>
            <a:ext cx="384048" cy="384048"/>
          </a:xfrm>
          <a:prstGeom prst="rect">
            <a:avLst/>
          </a:prstGeom>
        </p:spPr>
      </p:pic>
      <p:pic>
        <p:nvPicPr>
          <p:cNvPr id="14" name="Image 7" descr="C:/Users/Vaibhav/AppData/Local/Temp/opencode/icons/rend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2856" y="3429000"/>
            <a:ext cx="384048" cy="38404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NaN-Chalant  ·  8-minute live demo — everything runs on real code</a:t>
            </a:r>
            <a:endParaRPr lang="en-US" sz="1300" dirty="0"/>
          </a:p>
        </p:txBody>
      </p:sp>
      <p:sp>
        <p:nvSpPr>
          <p:cNvPr id="16" name="Text 6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  ·  Nexathon 2026</a:t>
            </a:r>
            <a:endParaRPr lang="en-US" sz="800" dirty="0"/>
          </a:p>
        </p:txBody>
      </p:sp>
      <p:sp>
        <p:nvSpPr>
          <p:cNvPr id="17" name="Text 7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India cannot reach a doctor in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20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1:11k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doctor–patient ratio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463040"/>
            <a:ext cx="1920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554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8892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Indians live rural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1920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554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9204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doctors are urban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463040"/>
            <a:ext cx="1920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554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99516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 hit by language gaps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8046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3375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/ Marathi / Hinglish callers — most triage tools only parse clean English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PHCs understaffed; follow-up visits never happen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 loop today: the call ends and nobody tracks recovery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  ·  Nexathon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ticket, six steps, zero mockups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758952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223113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9496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" y="2834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intake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" y="31089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helpline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2231136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834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31089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DS 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75304" y="223113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75304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72384" y="2834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72384" y="31089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queue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93208" y="2231136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93208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90288" y="2834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90288" y="31089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+ SMS + app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11112" y="223113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11112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08192" y="2834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vitals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08192" y="31089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 + AI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29016" y="2231136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29016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26096" y="2834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26096" y="31089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safety net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Hindi call becomes a delivered medicine box in under 8 minutes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  ·  Nexathon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Vapi-only voice, honest boundaries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88720" cy="713232"/>
          </a:xfrm>
          <a:prstGeom prst="rect">
            <a:avLst>
              <a:gd name="adj" fmla="val 1025641"/>
            </a:avLst>
          </a:prstGeom>
          <a:solidFill>
            <a:srgbClr val="02809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74520" y="1325880"/>
            <a:ext cx="6720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6" name="Image 0" descr="C:/Users/Vaibhav/AppData/Local/Temp/opencode/icons/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13807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29968" y="168249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24912" y="150876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944368" y="1536192"/>
            <a:ext cx="914400" cy="292608"/>
          </a:xfrm>
          <a:prstGeom prst="rect">
            <a:avLst>
              <a:gd name="adj" fmla="val 1875000"/>
            </a:avLst>
          </a:prstGeom>
          <a:solidFill>
            <a:srgbClr val="02809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77056" y="150876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pic>
        <p:nvPicPr>
          <p:cNvPr id="11" name="Image 1" descr="C:/Users/Vaibhav/AppData/Local/Temp/opencode/icons/googlegemin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38074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41648" y="168249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782312" y="1499616"/>
            <a:ext cx="3767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end-of-call report + history tool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2167128"/>
            <a:ext cx="1188720" cy="713232"/>
          </a:xfrm>
          <a:prstGeom prst="rect">
            <a:avLst>
              <a:gd name="adj" fmla="val 1025641"/>
            </a:avLst>
          </a:prstGeom>
          <a:solidFill>
            <a:srgbClr val="02809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874520" y="2167128"/>
            <a:ext cx="6720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16" name="Image 2" descr="C:/Users/Vaibhav/AppData/Local/Temp/opencode/icons/fastap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222199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29968" y="25237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2724912" y="2350008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pic>
        <p:nvPicPr>
          <p:cNvPr id="19" name="Image 3" descr="C:/Users/Vaibhav/AppData/Local/Temp/opencode/icons/pyth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384" y="2221992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889504" y="25237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3630168" y="2340864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/ doctor / orders / vitals / analytics / predict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48640" y="3008376"/>
            <a:ext cx="1188720" cy="713232"/>
          </a:xfrm>
          <a:prstGeom prst="rect">
            <a:avLst>
              <a:gd name="adj" fmla="val 1025641"/>
            </a:avLst>
          </a:prstGeom>
          <a:solidFill>
            <a:srgbClr val="02809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1874520" y="3008376"/>
            <a:ext cx="6720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24" name="Image 4" descr="C:/Users/Vaibhav/AppData/Local/Temp/opencode/icons/sup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8" y="3063240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029968" y="33649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2724912" y="3191256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pic>
        <p:nvPicPr>
          <p:cNvPr id="27" name="Image 5" descr="C:/Users/Vaibhav/AppData/Local/Temp/opencode/icons/postgresq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384" y="3063240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889504" y="33649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3630168" y="318211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/ tickets / orders / inventory / camps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48640" y="3849624"/>
            <a:ext cx="1188720" cy="713232"/>
          </a:xfrm>
          <a:prstGeom prst="rect">
            <a:avLst>
              <a:gd name="adj" fmla="val 1025641"/>
            </a:avLst>
          </a:prstGeom>
          <a:solidFill>
            <a:srgbClr val="02809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1874520" y="3849624"/>
            <a:ext cx="67208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32" name="Image 6" descr="C:/Users/Vaibhav/AppData/Local/Temp/opencode/icons/reac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2848" y="3904488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029968" y="420624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UI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2724912" y="4032504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pic>
        <p:nvPicPr>
          <p:cNvPr id="35" name="Image 7" descr="C:/Users/Vaibhav/AppData/Local/Temp/opencode/icons/flutt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2384" y="3904488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2889504" y="420624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app</a:t>
            </a:r>
            <a:endParaRPr lang="en-US" sz="800" dirty="0"/>
          </a:p>
        </p:txBody>
      </p:sp>
      <p:sp>
        <p:nvSpPr>
          <p:cNvPr id="37" name="Text 27"/>
          <p:cNvSpPr/>
          <p:nvPr/>
        </p:nvSpPr>
        <p:spPr>
          <a:xfrm>
            <a:off x="3584448" y="4032504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pic>
        <p:nvPicPr>
          <p:cNvPr id="38" name="Image 8" descr="C:/Users/Vaibhav/AppData/Local/Temp/opencode/icons/tru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1920" y="390448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3749040" y="420624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  <p:sp>
        <p:nvSpPr>
          <p:cNvPr id="40" name="Text 29"/>
          <p:cNvSpPr/>
          <p:nvPr/>
        </p:nvSpPr>
        <p:spPr>
          <a:xfrm>
            <a:off x="4489704" y="4023360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maps + UPI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  ·  Nexathon 2026</a:t>
            </a:r>
            <a:endParaRPr lang="en-US" sz="800" dirty="0"/>
          </a:p>
        </p:txBody>
      </p:sp>
      <p:sp>
        <p:nvSpPr>
          <p:cNvPr id="42" name="Text 31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owns the call — we own the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9377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5" name="Image 0" descr="C:/Users/Vaibhav/AppData/Local/Temp/opencode/icons/googlegemi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72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call gives us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05740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transcript + structuredData + caller + call ID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Mid-call RAG: Gemini embeddings, top-5 over 0.4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tool: repeat callers recognised by phone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only — no audio, no per-turn control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760720" y="1417320"/>
            <a:ext cx="2834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9" name="Image 1" descr="C:/Users/Vaibhav/AppData/Local/Temp/opencode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0020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572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in seconds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8932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 the moment the report lands — no waiting on batch jobs.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760720" y="3017520"/>
            <a:ext cx="2834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13" name="Image 2" descr="C:/Users/Vaibhav/AppData/Local/Temp/opencode/icons/shield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20040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3172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Log-only stage mode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989320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SMS vendor on stage: flows return sms_sent:false, zero network stalls.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  ·  Nexathon 2026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tables, verified live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5" name="Image 0" descr="C:/Users/Vaibhav/AppData/Local/Temp/opencode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9" name="Image 1" descr="C:/Users/Vaibhav/AppData/Local/Temp/opencode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819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747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6035040" y="141732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13" name="Image 2" descr="C:/Users/Vaibhav/AppData/Local/Temp/opencode/icons/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8191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179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548640" y="29718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17" name="Image 3" descr="C:/Users/Vaibhav/AppData/Local/Temp/opencode/icons/shield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3639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3152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seeded</a:t>
            </a:r>
            <a:endParaRPr lang="en-US" sz="2600" dirty="0"/>
          </a:p>
        </p:txBody>
      </p:sp>
      <p:sp>
        <p:nvSpPr>
          <p:cNvPr id="20" name="Shape 14"/>
          <p:cNvSpPr/>
          <p:nvPr/>
        </p:nvSpPr>
        <p:spPr>
          <a:xfrm>
            <a:off x="3291840" y="29718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21" name="Image 4" descr="C:/Users/Vaibhav/AppData/Local/Temp/opencode/icons/map-p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13639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8620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47472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seeded</a:t>
            </a:r>
            <a:endParaRPr lang="en-US" sz="2600" dirty="0"/>
          </a:p>
        </p:txBody>
      </p:sp>
      <p:sp>
        <p:nvSpPr>
          <p:cNvPr id="24" name="Shape 17"/>
          <p:cNvSpPr/>
          <p:nvPr/>
        </p:nvSpPr>
        <p:spPr>
          <a:xfrm>
            <a:off x="6035040" y="29718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25" name="Image 5" descr="C:/Users/Vaibhav/AppData/Local/Temp/opencode/icons/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36392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2940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knowledge_base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21792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remedies</a:t>
            </a:r>
            <a:endParaRPr lang="en-US" sz="2600" dirty="0"/>
          </a:p>
        </p:txBody>
      </p:sp>
      <p:sp>
        <p:nvSpPr>
          <p:cNvPr id="28" name="Text 20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  ·  Nexathon 2026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explainable, honestly labeled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1148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463040"/>
          <a:ext cx="37490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0.96  ·  F1 0.79  ·  under-triage 19%</a:t>
            </a:r>
            <a:endParaRPr lang="en-US" sz="1100" dirty="0"/>
          </a:p>
        </p:txBody>
      </p:sp>
      <p:pic>
        <p:nvPicPr>
          <p:cNvPr id="7" name="Image 0" descr="C:/Users/Vaibhav/AppData/Local/Temp/opencode/icons/scikitle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329184" cy="329184"/>
          </a:xfrm>
          <a:prstGeom prst="rect">
            <a:avLst/>
          </a:prstGeom>
        </p:spPr>
      </p:pic>
      <p:pic>
        <p:nvPicPr>
          <p:cNvPr id="8" name="Image 1" descr="C:/Users/Vaibhav/AppData/Local/Temp/opencode/icons/pyth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173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97880" y="1463040"/>
            <a:ext cx="914400" cy="292608"/>
          </a:xfrm>
          <a:prstGeom prst="rect">
            <a:avLst>
              <a:gd name="adj" fmla="val 1875000"/>
            </a:avLst>
          </a:prstGeom>
          <a:solidFill>
            <a:srgbClr val="00A89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5029200" y="18745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baseline shown beside XGBoost — no cherry-picking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SpO2, pulse and pain drive every prediction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Outbreak: z-score + IsolationForest on /analytics/enhanced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DS_DATA_MODE=real|synthetic — synthetic on stage, real run in appendix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  ·  Nexathon 2026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PRESCRIBING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prescription teaches the next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20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5" name="Image 0" descr="C:/Users/Vaibhav/AppData/Local/Temp/opencode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36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0574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+ vitals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patient history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68880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651760" y="1417320"/>
            <a:ext cx="1920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10" name="Image 1" descr="C:/Users/Vaibhav/AppData/Local/Temp/opencode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55448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1536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34640" y="20574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LinUCB over formulary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in-stock only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0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754880" y="1417320"/>
            <a:ext cx="1920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15" name="Image 2" descr="C:/Users/Vaibhav/AppData/Local/Temp/opencode/icons/check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55448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1536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decides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937760" y="20574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1.0 · edit 0.5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0.0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675120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858000" y="1417320"/>
            <a:ext cx="1920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20" name="Image 3" descr="C:/Users/Vaibhav/AppData/Local/Temp/opencode/icons/arrow-pa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55448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1536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Relearn nightly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040880" y="20574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climbs live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463040" y="3337560"/>
            <a:ext cx="6217920" cy="384048"/>
          </a:xfrm>
          <a:prstGeom prst="rect">
            <a:avLst>
              <a:gd name="adj" fmla="val 1904762"/>
            </a:avLst>
          </a:prstGeom>
          <a:solidFill>
            <a:srgbClr val="D9F0EA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nightly reweight closes the loop — cold-start rules on day one, learned weights after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3886200"/>
            <a:ext cx="2651760" cy="384048"/>
          </a:xfrm>
          <a:prstGeom prst="rect">
            <a:avLst>
              <a:gd name="adj" fmla="val 1904762"/>
            </a:avLst>
          </a:prstGeom>
          <a:solidFill>
            <a:srgbClr val="FFFFFF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formulary-only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291840" y="3886200"/>
            <a:ext cx="2651760" cy="384048"/>
          </a:xfrm>
          <a:prstGeom prst="rect">
            <a:avLst>
              <a:gd name="adj" fmla="val 1904762"/>
            </a:avLst>
          </a:prstGeom>
          <a:solidFill>
            <a:srgbClr val="FFFFFF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dose sanity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035040" y="3886200"/>
            <a:ext cx="2651760" cy="384048"/>
          </a:xfrm>
          <a:prstGeom prst="rect">
            <a:avLst>
              <a:gd name="adj" fmla="val 1904762"/>
            </a:avLst>
          </a:prstGeom>
          <a:solidFill>
            <a:srgbClr val="FFFFFF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abstain &lt; 0.60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auto-prescribes — the doctor verdict always wins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  ·  Nexathon 2026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assume the voice AI is fallible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023360" cy="1371600"/>
          </a:xfrm>
          <a:prstGeom prst="roundRect">
            <a:avLst/>
          </a:prstGeom>
          <a:solidFill>
            <a:srgbClr val="0C3542"/>
          </a:solidFill>
          <a:ln w="12700">
            <a:solidFill>
              <a:srgbClr val="0C3542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5" name="Image 0" descr="C:/Users/Vaibhav/AppData/Local/Temp/opencode/icons/shield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81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reader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transcript re-screened; Vapi=Routine vs red flags → auto-escalate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417320"/>
            <a:ext cx="4023360" cy="1371600"/>
          </a:xfrm>
          <a:prstGeom prst="roundRect">
            <a:avLst/>
          </a:prstGeom>
          <a:solidFill>
            <a:srgbClr val="0C3542"/>
          </a:solidFill>
          <a:ln w="12700">
            <a:solidFill>
              <a:srgbClr val="0C3542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9" name="Image 1" descr="C:/Users/Vaibhav/AppData/Local/Temp/opencode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002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5819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queue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8348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llm_severity vs ds_prediction, ranked for the doctor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4023360" cy="1371600"/>
          </a:xfrm>
          <a:prstGeom prst="roundRect">
            <a:avLst/>
          </a:prstGeom>
          <a:solidFill>
            <a:srgbClr val="0C3542"/>
          </a:solidFill>
          <a:ln w="12700">
            <a:solidFill>
              <a:srgbClr val="0C3542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13" name="Image 2" descr="C:/Users/Vaibhav/AppData/Local/Temp/opencode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136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77240" y="3566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→ doctor_review. Never a guess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971800"/>
            <a:ext cx="4023360" cy="1371600"/>
          </a:xfrm>
          <a:prstGeom prst="roundRect">
            <a:avLst/>
          </a:prstGeom>
          <a:solidFill>
            <a:srgbClr val="0C3542"/>
          </a:solidFill>
          <a:ln w="12700">
            <a:solidFill>
              <a:srgbClr val="0C3542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17" name="Image 3" descr="C:/Users/Vaibhav/AppData/Local/Temp/opencode/icons/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546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136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wins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83480" y="3566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framing on every card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  ·  Nexathon 2026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before Vapi goes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7548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PRE-VAPI GATE</a:t>
            </a:r>
            <a:endParaRPr lang="en-US" sz="1200" dirty="0"/>
          </a:p>
        </p:txBody>
      </p:sp>
      <p:pic>
        <p:nvPicPr>
          <p:cNvPr id="6" name="Image 0" descr="C:/Users/Vaibhav/AppData/Local/Temp/opencode/icons/check-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47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ok</a:t>
            </a:r>
            <a:endParaRPr lang="en-US" sz="1150" dirty="0"/>
          </a:p>
        </p:txBody>
      </p:sp>
      <p:pic>
        <p:nvPicPr>
          <p:cNvPr id="8" name="Image 1" descr="C:/Users/Vaibhav/AppData/Local/Temp/opencode/icons/check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774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ping: 6 tables</a:t>
            </a:r>
            <a:endParaRPr lang="en-US" sz="1150" dirty="0"/>
          </a:p>
        </p:txBody>
      </p:sp>
      <p:pic>
        <p:nvPicPr>
          <p:cNvPr id="10" name="Image 2" descr="C:/Users/Vaibhav/AppData/Local/Temp/opencode/icons/check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8892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770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triage.pkl loads 10/10</a:t>
            </a:r>
            <a:endParaRPr lang="en-US" sz="1150" dirty="0"/>
          </a:p>
        </p:txBody>
      </p:sp>
      <p:pic>
        <p:nvPicPr>
          <p:cNvPr id="12" name="Image 3" descr="C:/Users/Vaibhav/AppData/Local/Temp/opencode/icons/check-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0040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182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cache + seeds present</a:t>
            </a:r>
            <a:endParaRPr lang="en-US" sz="1150" dirty="0"/>
          </a:p>
        </p:txBody>
      </p:sp>
      <p:pic>
        <p:nvPicPr>
          <p:cNvPr id="14" name="Image 4" descr="C:/Users/Vaibhav/AppData/Local/Temp/opencode/icons/check-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1188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3593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21/21 · build clean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5577840" y="1417320"/>
            <a:ext cx="1417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5577840" y="1508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21/21</a:t>
            </a:r>
            <a:endParaRPr lang="en-US" sz="2800" dirty="0"/>
          </a:p>
        </p:txBody>
      </p:sp>
      <p:sp>
        <p:nvSpPr>
          <p:cNvPr id="18" name="Text 11"/>
          <p:cNvSpPr/>
          <p:nvPr/>
        </p:nvSpPr>
        <p:spPr>
          <a:xfrm>
            <a:off x="557784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</p:txBody>
      </p:sp>
      <p:pic>
        <p:nvPicPr>
          <p:cNvPr id="19" name="Image 5" descr="C:/Users/Vaibhav/AppData/Local/Temp/opencode/icons/pyte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2377440"/>
            <a:ext cx="365760" cy="3657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178040" y="1417320"/>
            <a:ext cx="1417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7178040" y="1508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✓</a:t>
            </a:r>
            <a:endParaRPr lang="en-US" sz="2800" dirty="0"/>
          </a:p>
        </p:txBody>
      </p:sp>
      <p:sp>
        <p:nvSpPr>
          <p:cNvPr id="22" name="Text 14"/>
          <p:cNvSpPr/>
          <p:nvPr/>
        </p:nvSpPr>
        <p:spPr>
          <a:xfrm>
            <a:off x="717804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7680960" y="2377440"/>
            <a:ext cx="914400" cy="292608"/>
          </a:xfrm>
          <a:prstGeom prst="rect">
            <a:avLst>
              <a:gd name="adj" fmla="val 1875000"/>
            </a:avLst>
          </a:prstGeom>
          <a:solidFill>
            <a:srgbClr val="2EAD3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5577840" y="2926080"/>
            <a:ext cx="3017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pic>
        <p:nvPicPr>
          <p:cNvPr id="25" name="Image 6" descr="C:/Users/Vaibhav/AppData/Local/Temp/opencode/icons/c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3108960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17220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goes last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5760720" y="3520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call placed only after this gate is green.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  ·  Nexathon 2026</a:t>
            </a:r>
            <a:endParaRPr lang="en-US" sz="800" dirty="0"/>
          </a:p>
        </p:txBody>
      </p:sp>
      <p:sp>
        <p:nvSpPr>
          <p:cNvPr id="29" name="Text 20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minutes, one ticket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758952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1773936"/>
            <a:ext cx="475488" cy="475488"/>
          </a:xfrm>
          <a:prstGeom prst="ellipse">
            <a:avLst/>
          </a:prstGeom>
          <a:solidFill>
            <a:srgbClr val="062A33"/>
          </a:solidFill>
          <a:ln w="12700">
            <a:solidFill>
              <a:srgbClr val="06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208" y="182880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call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" y="2651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audio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773936"/>
            <a:ext cx="475488" cy="475488"/>
          </a:xfrm>
          <a:prstGeom prst="ellipse">
            <a:avLst/>
          </a:prstGeom>
          <a:solidFill>
            <a:srgbClr val="062A33"/>
          </a:solidFill>
          <a:ln w="12700">
            <a:solidFill>
              <a:srgbClr val="06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39112" y="182880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lands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651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+ audit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75304" y="1773936"/>
            <a:ext cx="475488" cy="475488"/>
          </a:xfrm>
          <a:prstGeom prst="ellipse">
            <a:avLst/>
          </a:prstGeom>
          <a:solidFill>
            <a:srgbClr val="062A33"/>
          </a:solidFill>
          <a:ln w="12700">
            <a:solidFill>
              <a:srgbClr val="06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57016" y="182880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72384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72384" y="2651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93208" y="1773936"/>
            <a:ext cx="475488" cy="475488"/>
          </a:xfrm>
          <a:prstGeom prst="ellipse">
            <a:avLst/>
          </a:prstGeom>
          <a:solidFill>
            <a:srgbClr val="062A33"/>
          </a:solidFill>
          <a:ln w="12700">
            <a:solidFill>
              <a:srgbClr val="06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74920" y="182880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90288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90288" y="2651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Cash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11112" y="1773936"/>
            <a:ext cx="475488" cy="475488"/>
          </a:xfrm>
          <a:prstGeom prst="ellipse">
            <a:avLst/>
          </a:prstGeom>
          <a:solidFill>
            <a:srgbClr val="062A33"/>
          </a:solidFill>
          <a:ln w="12700">
            <a:solidFill>
              <a:srgbClr val="06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92824" y="182880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08192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08192" y="2651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doctor_review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29016" y="1773936"/>
            <a:ext cx="475488" cy="475488"/>
          </a:xfrm>
          <a:prstGeom prst="ellipse">
            <a:avLst/>
          </a:prstGeom>
          <a:solidFill>
            <a:srgbClr val="062A33"/>
          </a:solidFill>
          <a:ln w="12700">
            <a:solidFill>
              <a:srgbClr val="062A33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10728" y="182880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26096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26096" y="2651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live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383280"/>
            <a:ext cx="8046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E2D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3520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 ready: demo cache + local models carry the demo if the network drops.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  ·  Nexathon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91840"/>
            <a:ext cx="3657600" cy="36576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loop live on rx_feedback — acceptance chart climbs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IDSP real outbreak weeks replace synthetic districts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D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8803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Dograh self-hosted voice for in-call control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Team NaN-Chalant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CURAGO  ·  Nexathon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Curago - Phygital Telemedicine</dc:title>
  <dc:subject>PptxGenJS Presentation</dc:subject>
  <dc:creator>Team NaN-Chalant</dc:creator>
  <cp:lastModifiedBy>Team NaN-Chalant</cp:lastModifiedBy>
  <cp:revision>1</cp:revision>
  <dcterms:created xsi:type="dcterms:W3CDTF">2026-10-08T20:00:23Z</dcterms:created>
  <dcterms:modified xsi:type="dcterms:W3CDTF">2026-10-08T20:00:23Z</dcterms:modified>
</cp:coreProperties>
</file>